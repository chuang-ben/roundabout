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  <p:sldId id="257" r:id="rId3"/>
    <p:sldId id="265" r:id="rId4"/>
    <p:sldId id="266" r:id="rId5"/>
    <p:sldId id="267" r:id="rId6"/>
    <p:sldId id="258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0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525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8162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34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4075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491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3587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1145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2632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7376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8246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0825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BD597-E86D-4BF6-BFC6-9416768F7F27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83F18-FD4B-4DE7-9071-B908F453FB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50107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E273F307-F96E-41A0-B77A-B5AA43589D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8"/>
          <a:stretch/>
        </p:blipFill>
        <p:spPr>
          <a:xfrm>
            <a:off x="525038" y="0"/>
            <a:ext cx="11102586" cy="6867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18FF8-8BA5-48A0-A843-AB50E8F1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Panel data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8768FC35-59E9-4419-9566-675B8224F0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953258"/>
              </p:ext>
            </p:extLst>
          </p:nvPr>
        </p:nvGraphicFramePr>
        <p:xfrm>
          <a:off x="940619" y="1690688"/>
          <a:ext cx="812800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386">
                  <a:extLst>
                    <a:ext uri="{9D8B030D-6E8A-4147-A177-3AD203B41FA5}">
                      <a16:colId xmlns:a16="http://schemas.microsoft.com/office/drawing/2014/main" val="1476703675"/>
                    </a:ext>
                  </a:extLst>
                </a:gridCol>
                <a:gridCol w="1274523">
                  <a:extLst>
                    <a:ext uri="{9D8B030D-6E8A-4147-A177-3AD203B41FA5}">
                      <a16:colId xmlns:a16="http://schemas.microsoft.com/office/drawing/2014/main" val="4254267113"/>
                    </a:ext>
                  </a:extLst>
                </a:gridCol>
                <a:gridCol w="1274523">
                  <a:extLst>
                    <a:ext uri="{9D8B030D-6E8A-4147-A177-3AD203B41FA5}">
                      <a16:colId xmlns:a16="http://schemas.microsoft.com/office/drawing/2014/main" val="414921504"/>
                    </a:ext>
                  </a:extLst>
                </a:gridCol>
                <a:gridCol w="1274523">
                  <a:extLst>
                    <a:ext uri="{9D8B030D-6E8A-4147-A177-3AD203B41FA5}">
                      <a16:colId xmlns:a16="http://schemas.microsoft.com/office/drawing/2014/main" val="2281532677"/>
                    </a:ext>
                  </a:extLst>
                </a:gridCol>
                <a:gridCol w="1274523">
                  <a:extLst>
                    <a:ext uri="{9D8B030D-6E8A-4147-A177-3AD203B41FA5}">
                      <a16:colId xmlns:a16="http://schemas.microsoft.com/office/drawing/2014/main" val="490914397"/>
                    </a:ext>
                  </a:extLst>
                </a:gridCol>
                <a:gridCol w="1274523">
                  <a:extLst>
                    <a:ext uri="{9D8B030D-6E8A-4147-A177-3AD203B41FA5}">
                      <a16:colId xmlns:a16="http://schemas.microsoft.com/office/drawing/2014/main" val="24281693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TYPE</a:t>
                      </a:r>
                      <a:endParaRPr lang="zh-TW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MC_MC</a:t>
                      </a:r>
                      <a:endParaRPr lang="zh-TW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MC_PC</a:t>
                      </a:r>
                      <a:endParaRPr lang="zh-TW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PC_PC</a:t>
                      </a:r>
                      <a:endParaRPr lang="zh-TW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other</a:t>
                      </a:r>
                      <a:endParaRPr lang="zh-TW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unknown</a:t>
                      </a:r>
                      <a:endParaRPr lang="zh-TW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771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b="1" dirty="0" err="1">
                          <a:solidFill>
                            <a:schemeClr val="tx1"/>
                          </a:solidFill>
                        </a:rPr>
                        <a:t>Y_total</a:t>
                      </a:r>
                      <a:endParaRPr lang="en-US" altLang="zh-TW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502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dirty="0" err="1">
                          <a:solidFill>
                            <a:schemeClr val="tx1"/>
                          </a:solidFill>
                        </a:rPr>
                        <a:t>Y_record</a:t>
                      </a:r>
                      <a:endParaRPr lang="en-US" altLang="zh-TW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863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dirty="0" err="1">
                          <a:solidFill>
                            <a:schemeClr val="tx1"/>
                          </a:solidFill>
                        </a:rPr>
                        <a:t>Y_MC_involved</a:t>
                      </a:r>
                      <a:endParaRPr lang="en-US" altLang="zh-TW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4644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Y_MC_MC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8027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3882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18FF8-8BA5-48A0-A843-AB50E8F1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Y_total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69379DF5-C669-4125-925F-480F7A17E0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656851"/>
              </p:ext>
            </p:extLst>
          </p:nvPr>
        </p:nvGraphicFramePr>
        <p:xfrm>
          <a:off x="920793" y="1690688"/>
          <a:ext cx="11143387" cy="3355002"/>
        </p:xfrm>
        <a:graphic>
          <a:graphicData uri="http://schemas.openxmlformats.org/drawingml/2006/table">
            <a:tbl>
              <a:tblPr/>
              <a:tblGrid>
                <a:gridCol w="1100114">
                  <a:extLst>
                    <a:ext uri="{9D8B030D-6E8A-4147-A177-3AD203B41FA5}">
                      <a16:colId xmlns:a16="http://schemas.microsoft.com/office/drawing/2014/main" val="2110836057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1607230787"/>
                    </a:ext>
                  </a:extLst>
                </a:gridCol>
                <a:gridCol w="1005276">
                  <a:extLst>
                    <a:ext uri="{9D8B030D-6E8A-4147-A177-3AD203B41FA5}">
                      <a16:colId xmlns:a16="http://schemas.microsoft.com/office/drawing/2014/main" val="2609930582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527640527"/>
                    </a:ext>
                  </a:extLst>
                </a:gridCol>
                <a:gridCol w="1052694">
                  <a:extLst>
                    <a:ext uri="{9D8B030D-6E8A-4147-A177-3AD203B41FA5}">
                      <a16:colId xmlns:a16="http://schemas.microsoft.com/office/drawing/2014/main" val="1296365840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2043269189"/>
                    </a:ext>
                  </a:extLst>
                </a:gridCol>
                <a:gridCol w="1953650">
                  <a:extLst>
                    <a:ext uri="{9D8B030D-6E8A-4147-A177-3AD203B41FA5}">
                      <a16:colId xmlns:a16="http://schemas.microsoft.com/office/drawing/2014/main" val="1385826208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2204668421"/>
                    </a:ext>
                  </a:extLst>
                </a:gridCol>
                <a:gridCol w="682829">
                  <a:extLst>
                    <a:ext uri="{9D8B030D-6E8A-4147-A177-3AD203B41FA5}">
                      <a16:colId xmlns:a16="http://schemas.microsoft.com/office/drawing/2014/main" val="1674266407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998572126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1276604074"/>
                    </a:ext>
                  </a:extLst>
                </a:gridCol>
                <a:gridCol w="872504">
                  <a:extLst>
                    <a:ext uri="{9D8B030D-6E8A-4147-A177-3AD203B41FA5}">
                      <a16:colId xmlns:a16="http://schemas.microsoft.com/office/drawing/2014/main" val="1206233029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3844323738"/>
                    </a:ext>
                  </a:extLst>
                </a:gridCol>
                <a:gridCol w="559540">
                  <a:extLst>
                    <a:ext uri="{9D8B030D-6E8A-4147-A177-3AD203B41FA5}">
                      <a16:colId xmlns:a16="http://schemas.microsoft.com/office/drawing/2014/main" val="3025496753"/>
                    </a:ext>
                  </a:extLst>
                </a:gridCol>
              </a:tblGrid>
              <a:tr h="245841">
                <a:tc gridSpan="14"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poisson_03_Y_total</a:t>
                      </a:r>
                    </a:p>
                  </a:txBody>
                  <a:tcPr marL="5975" marR="5975" marT="597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743014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　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mean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standard_error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var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var_mean_ratio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raw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estimate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IRR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z-value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0907140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潮州燒冷冰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2.221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2.115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0.952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Deviance dispersion = 1.173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is_treated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-0.239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0.7874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0.1309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-1.8262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0.0678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179759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歸仁圓環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2.418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2.126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0.879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Pearson dispersion  = 1.285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robust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estimate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IRR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z-value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139939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中興新村圓環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1.353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0.126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McFadden = 0.2657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is_treated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-0.239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0.7874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0.132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-1.8106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0.0702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635058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三多商圈圓環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0.221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0.050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0.204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0.923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398935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芒果圓環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0.358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0.063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0.264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0.737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267455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岡山圓環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0.328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0.069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0.315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0.960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3057229"/>
                  </a:ext>
                </a:extLst>
              </a:tr>
              <a:tr h="2458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大村圓環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0.050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1.037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2664604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內埔圓環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2.139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3.953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1.848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085218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南投市中心圓環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0.250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0.273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1.092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71806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高雄控制組五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0.125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0.111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0.888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46167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麻豆圓環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1.000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1.352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1.352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4498995"/>
                  </a:ext>
                </a:extLst>
              </a:tr>
              <a:tr h="238610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高雄控制組二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05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0.153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0.856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840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1536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18FF8-8BA5-48A0-A843-AB50E8F1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Y_record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6E520C6-FF70-4FBD-991A-6A13390567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801500"/>
              </p:ext>
            </p:extLst>
          </p:nvPr>
        </p:nvGraphicFramePr>
        <p:xfrm>
          <a:off x="956187" y="1690688"/>
          <a:ext cx="11102094" cy="3013012"/>
        </p:xfrm>
        <a:graphic>
          <a:graphicData uri="http://schemas.openxmlformats.org/drawingml/2006/table">
            <a:tbl>
              <a:tblPr/>
              <a:tblGrid>
                <a:gridCol w="1096036">
                  <a:extLst>
                    <a:ext uri="{9D8B030D-6E8A-4147-A177-3AD203B41FA5}">
                      <a16:colId xmlns:a16="http://schemas.microsoft.com/office/drawing/2014/main" val="4210656968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495710194"/>
                    </a:ext>
                  </a:extLst>
                </a:gridCol>
                <a:gridCol w="1001550">
                  <a:extLst>
                    <a:ext uri="{9D8B030D-6E8A-4147-A177-3AD203B41FA5}">
                      <a16:colId xmlns:a16="http://schemas.microsoft.com/office/drawing/2014/main" val="3643787209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3097024495"/>
                    </a:ext>
                  </a:extLst>
                </a:gridCol>
                <a:gridCol w="1048793">
                  <a:extLst>
                    <a:ext uri="{9D8B030D-6E8A-4147-A177-3AD203B41FA5}">
                      <a16:colId xmlns:a16="http://schemas.microsoft.com/office/drawing/2014/main" val="4139265150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865431555"/>
                    </a:ext>
                  </a:extLst>
                </a:gridCol>
                <a:gridCol w="1946409">
                  <a:extLst>
                    <a:ext uri="{9D8B030D-6E8A-4147-A177-3AD203B41FA5}">
                      <a16:colId xmlns:a16="http://schemas.microsoft.com/office/drawing/2014/main" val="185078573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1313071038"/>
                    </a:ext>
                  </a:extLst>
                </a:gridCol>
                <a:gridCol w="680299">
                  <a:extLst>
                    <a:ext uri="{9D8B030D-6E8A-4147-A177-3AD203B41FA5}">
                      <a16:colId xmlns:a16="http://schemas.microsoft.com/office/drawing/2014/main" val="305718597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1329466977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186437287"/>
                    </a:ext>
                  </a:extLst>
                </a:gridCol>
                <a:gridCol w="869271">
                  <a:extLst>
                    <a:ext uri="{9D8B030D-6E8A-4147-A177-3AD203B41FA5}">
                      <a16:colId xmlns:a16="http://schemas.microsoft.com/office/drawing/2014/main" val="4170345220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4076492949"/>
                    </a:ext>
                  </a:extLst>
                </a:gridCol>
                <a:gridCol w="557467">
                  <a:extLst>
                    <a:ext uri="{9D8B030D-6E8A-4147-A177-3AD203B41FA5}">
                      <a16:colId xmlns:a16="http://schemas.microsoft.com/office/drawing/2014/main" val="146197802"/>
                    </a:ext>
                  </a:extLst>
                </a:gridCol>
              </a:tblGrid>
              <a:tr h="218776">
                <a:tc gridSpan="14"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poisson_04_Y_record</a:t>
                      </a:r>
                    </a:p>
                  </a:txBody>
                  <a:tcPr marL="5975" marR="5975" marT="597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5027355"/>
                  </a:ext>
                </a:extLst>
              </a:tr>
              <a:tr h="21604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　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mean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standard_error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var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var_mean_ratio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raw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estimate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IRR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z-value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374700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潮州燒冷冰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1.838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1.779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0.968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Deviance dispersion = 1.091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is_treated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-0.3027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0.7388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0.1449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-2.089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0.0367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5192150"/>
                  </a:ext>
                </a:extLst>
              </a:tr>
              <a:tr h="23601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歸仁圓環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2.209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2.137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0.967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Pearson dispersion  = 1.25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robust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estimate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IRR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robust_error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z-value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455784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中興新村圓環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1.191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0.150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1.530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1.285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McFadden = 0.266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is_treated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-0.3027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0.7388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0.1491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-2.0305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0.0423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299531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三多商圈圓環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0.835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6903799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芒果圓環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0.269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0.059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0.230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0.855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329883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岡山圓環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0.254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0.061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0.253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0.996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8703560"/>
                  </a:ext>
                </a:extLst>
              </a:tr>
              <a:tr h="218776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大村圓環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1.104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507451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內埔圓環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0.819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0.107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0.909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1.110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7819151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南投市中心圓環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1.012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3915609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高雄控制組五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0.097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0.035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0.089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0.918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679643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麻豆圓環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0.931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1.249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1.342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282122"/>
                  </a:ext>
                </a:extLst>
              </a:tr>
              <a:tr h="21234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高雄控制組二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0.125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0.111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0.888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9277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681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18FF8-8BA5-48A0-A843-AB50E8F1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Y_MC_invloved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6C47B74-ADFA-4ED5-B125-4DADFF847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1837569"/>
              </p:ext>
            </p:extLst>
          </p:nvPr>
        </p:nvGraphicFramePr>
        <p:xfrm>
          <a:off x="838200" y="1690688"/>
          <a:ext cx="11078498" cy="3195719"/>
        </p:xfrm>
        <a:graphic>
          <a:graphicData uri="http://schemas.openxmlformats.org/drawingml/2006/table">
            <a:tbl>
              <a:tblPr/>
              <a:tblGrid>
                <a:gridCol w="1093707">
                  <a:extLst>
                    <a:ext uri="{9D8B030D-6E8A-4147-A177-3AD203B41FA5}">
                      <a16:colId xmlns:a16="http://schemas.microsoft.com/office/drawing/2014/main" val="1663832578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3982417935"/>
                    </a:ext>
                  </a:extLst>
                </a:gridCol>
                <a:gridCol w="999422">
                  <a:extLst>
                    <a:ext uri="{9D8B030D-6E8A-4147-A177-3AD203B41FA5}">
                      <a16:colId xmlns:a16="http://schemas.microsoft.com/office/drawing/2014/main" val="2004699753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1874063020"/>
                    </a:ext>
                  </a:extLst>
                </a:gridCol>
                <a:gridCol w="1046564">
                  <a:extLst>
                    <a:ext uri="{9D8B030D-6E8A-4147-A177-3AD203B41FA5}">
                      <a16:colId xmlns:a16="http://schemas.microsoft.com/office/drawing/2014/main" val="3433972761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3999007552"/>
                    </a:ext>
                  </a:extLst>
                </a:gridCol>
                <a:gridCol w="1942273">
                  <a:extLst>
                    <a:ext uri="{9D8B030D-6E8A-4147-A177-3AD203B41FA5}">
                      <a16:colId xmlns:a16="http://schemas.microsoft.com/office/drawing/2014/main" val="3631294209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2892881228"/>
                    </a:ext>
                  </a:extLst>
                </a:gridCol>
                <a:gridCol w="678853">
                  <a:extLst>
                    <a:ext uri="{9D8B030D-6E8A-4147-A177-3AD203B41FA5}">
                      <a16:colId xmlns:a16="http://schemas.microsoft.com/office/drawing/2014/main" val="4149025445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336090594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3136274176"/>
                    </a:ext>
                  </a:extLst>
                </a:gridCol>
                <a:gridCol w="867423">
                  <a:extLst>
                    <a:ext uri="{9D8B030D-6E8A-4147-A177-3AD203B41FA5}">
                      <a16:colId xmlns:a16="http://schemas.microsoft.com/office/drawing/2014/main" val="1752644507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1764825097"/>
                    </a:ext>
                  </a:extLst>
                </a:gridCol>
                <a:gridCol w="556282">
                  <a:extLst>
                    <a:ext uri="{9D8B030D-6E8A-4147-A177-3AD203B41FA5}">
                      <a16:colId xmlns:a16="http://schemas.microsoft.com/office/drawing/2014/main" val="455239947"/>
                    </a:ext>
                  </a:extLst>
                </a:gridCol>
              </a:tblGrid>
              <a:tr h="232090">
                <a:tc gridSpan="14"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poisson_05_Y_MC_involved</a:t>
                      </a:r>
                    </a:p>
                  </a:txBody>
                  <a:tcPr marL="5975" marR="5975" marT="597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543609"/>
                  </a:ext>
                </a:extLst>
              </a:tr>
              <a:tr h="23812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　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mean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standard_error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var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var_mean_ratio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Deviance dispersion = 1.091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raw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estimate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IRR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std_error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z-value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9146865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潮州燒冷冰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1.794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1.808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1.008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Pearson dispersion  = 1.257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is_treated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-0.2812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0.7549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0.1463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-1.922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0.0546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4297568"/>
                  </a:ext>
                </a:extLst>
              </a:tr>
              <a:tr h="240786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歸仁圓環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2.164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2.079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0.961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McFadden = 0.265</a:t>
                      </a: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robust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estimate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IRR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robust_error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z-value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p-value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001277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中興新村圓環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1.147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1.321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1.152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is_treated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rial Unicode MS" panose="020B0604020202020204" pitchFamily="34" charset="-120"/>
                        <a:ea typeface="Arial Unicode MS" panose="020B0604020202020204" pitchFamily="34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-0.2812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0.7549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0.151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-1.8618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0.0626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9795578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三多商圈圓環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0.176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0.835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594906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芒果圓環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0.057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0.215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0.900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935214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岡山圓環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0.060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0.245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1.025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1038500"/>
                  </a:ext>
                </a:extLst>
              </a:tr>
              <a:tr h="232090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大村圓環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0.148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1.104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4042363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內埔圓環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0.819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0.107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0.826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1.009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2236099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南投市中心圓環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0.048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0.169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1.012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1371083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高雄控制組五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0.097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0.035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0.089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0.918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6449513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b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麻豆圓環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0.861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0.133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1.276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1.482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3400460"/>
                  </a:ext>
                </a:extLst>
              </a:tr>
              <a:tr h="225263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高雄控制組二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0.125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0.039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0.111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0.888 </a:t>
                      </a: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zh-TW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5975" marR="5975" marT="5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90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844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0D0308-EB7E-4C6E-A3CF-DD9F94E4B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Control group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9086FD9-1F3A-46F2-B7C9-A8A5F28338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4724855"/>
              </p:ext>
            </p:extLst>
          </p:nvPr>
        </p:nvGraphicFramePr>
        <p:xfrm>
          <a:off x="1012312" y="1690688"/>
          <a:ext cx="2898959" cy="1863160"/>
        </p:xfrm>
        <a:graphic>
          <a:graphicData uri="http://schemas.openxmlformats.org/drawingml/2006/table">
            <a:tbl>
              <a:tblPr/>
              <a:tblGrid>
                <a:gridCol w="1055446">
                  <a:extLst>
                    <a:ext uri="{9D8B030D-6E8A-4147-A177-3AD203B41FA5}">
                      <a16:colId xmlns:a16="http://schemas.microsoft.com/office/drawing/2014/main" val="3268518765"/>
                    </a:ext>
                  </a:extLst>
                </a:gridCol>
                <a:gridCol w="1224318">
                  <a:extLst>
                    <a:ext uri="{9D8B030D-6E8A-4147-A177-3AD203B41FA5}">
                      <a16:colId xmlns:a16="http://schemas.microsoft.com/office/drawing/2014/main" val="1405353339"/>
                    </a:ext>
                  </a:extLst>
                </a:gridCol>
                <a:gridCol w="619195">
                  <a:extLst>
                    <a:ext uri="{9D8B030D-6E8A-4147-A177-3AD203B41FA5}">
                      <a16:colId xmlns:a16="http://schemas.microsoft.com/office/drawing/2014/main" val="3737191597"/>
                    </a:ext>
                  </a:extLst>
                </a:gridCol>
              </a:tblGrid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實驗組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對照組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pair_id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950774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潮州燒冷冰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內埔圓環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259004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歸仁圓環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內埔圓環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155500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中興新村圓環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南投市中心圓環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5544403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三多商圈圓環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高雄控制組五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408377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芒果圓環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麻豆圓環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3956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大村圓環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南投市中心圓環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565962"/>
                  </a:ext>
                </a:extLst>
              </a:tr>
              <a:tr h="232895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岡山圓環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高雄控制組二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Unicode MS" panose="020B0604020202020204" pitchFamily="34" charset="-120"/>
                          <a:ea typeface="Arial Unicode MS" panose="020B0604020202020204" pitchFamily="34" charset="-120"/>
                        </a:rPr>
                        <a:t>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07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527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0D0308-EB7E-4C6E-A3CF-DD9F94E4B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 step?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FE52CFD-386B-45C3-8F45-8EBD42EA2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機車占總事故數量的比例變化分析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如果要降低顯著性可能可增加除了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is_treated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之外的參數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Panel data or did?</a:t>
            </a: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針對機車的駕駛行為找更多的資料作分析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除了車禍資料還以哪些可供研究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80217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</TotalTime>
  <Words>600</Words>
  <Application>Microsoft Office PowerPoint</Application>
  <PresentationFormat>寬螢幕</PresentationFormat>
  <Paragraphs>335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4" baseType="lpstr">
      <vt:lpstr>Arial Unicode MS</vt:lpstr>
      <vt:lpstr>微軟正黑體</vt:lpstr>
      <vt:lpstr>新細明體</vt:lpstr>
      <vt:lpstr>Arial</vt:lpstr>
      <vt:lpstr>Calibri</vt:lpstr>
      <vt:lpstr>Calibri Light</vt:lpstr>
      <vt:lpstr>Office Theme</vt:lpstr>
      <vt:lpstr>PowerPoint 簡報</vt:lpstr>
      <vt:lpstr>Panel data</vt:lpstr>
      <vt:lpstr>Y_total</vt:lpstr>
      <vt:lpstr>Y_record</vt:lpstr>
      <vt:lpstr>Y_MC_invloved</vt:lpstr>
      <vt:lpstr>Control group</vt:lpstr>
      <vt:lpstr>Next step?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suder ch</dc:creator>
  <cp:lastModifiedBy>suder ch</cp:lastModifiedBy>
  <cp:revision>20</cp:revision>
  <dcterms:created xsi:type="dcterms:W3CDTF">2026-04-12T10:40:53Z</dcterms:created>
  <dcterms:modified xsi:type="dcterms:W3CDTF">2026-05-11T09:08:55Z</dcterms:modified>
</cp:coreProperties>
</file>