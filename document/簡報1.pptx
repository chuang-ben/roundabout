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2" r:id="rId6"/>
    <p:sldId id="264" r:id="rId7"/>
    <p:sldId id="260" r:id="rId8"/>
    <p:sldId id="261" r:id="rId9"/>
    <p:sldId id="263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0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945352-EB9B-45F4-9933-CB08B86213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ACFFB83-1731-4BE9-B6EE-02759BC02B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BBD2B62-C803-43B8-9A3E-6D175FBAD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BD597-E86D-4BF6-BFC6-9416768F7F27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289CEEA-1F07-4D57-9356-2C7562CB7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18C886E-35F1-4842-8D81-71973BC65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83F18-FD4B-4DE7-9071-B908F453FB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6287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25A49E-85EB-447A-A686-66E1E42C4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321CD30-70CC-4AD7-9BD2-B30770BA8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579E237-EB1C-401D-9113-93180700F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BD597-E86D-4BF6-BFC6-9416768F7F27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427B31B-2BAE-44CE-8B78-611A826CD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7BC7424-9B64-494C-BA27-BCE70A1AF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83F18-FD4B-4DE7-9071-B908F453FB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1101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DF8DC9-0B61-4C62-BD4C-94E5095D1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8A7D808-5592-4B90-A9EB-F0B0C637D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0C259DE-9552-46C7-AD37-D8E4ECA9C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BD597-E86D-4BF6-BFC6-9416768F7F27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92D925C-EAE3-4273-B48F-0431A6D5E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C8B33D-17DA-400C-9C96-CC57D6F55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83F18-FD4B-4DE7-9071-B908F453FB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643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CA9B75-439D-46BE-8C73-CA6AE6288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22D4AC2-B665-4519-B4F1-0C0B81C0D4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8B8D1F8-7BC8-469E-8419-09D17B6FC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DF35E37-C593-4100-AFC2-4A239F34C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BD597-E86D-4BF6-BFC6-9416768F7F27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695E798-A391-4D79-A634-07BF982EC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8E80C91-C0AA-49CF-8F46-B8A9D181D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83F18-FD4B-4DE7-9071-B908F453FB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498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968B4D-D2D6-497D-BEA9-E73C6F826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6AD5E09-DCEB-4A6C-902E-0657886EA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8C06EEA-CD04-43BC-869F-72A8D4D8C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1AC0D20-1CDD-49CF-865E-8D2CBE86D6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57E3ECC-80CA-4BD2-A7DA-4633C9377D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FF648CB-5C85-4D61-BC77-82DF6FE3C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BD597-E86D-4BF6-BFC6-9416768F7F27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660CA76-7A8C-4E5E-BF35-EE392E9FF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579372D-3883-44D0-8609-23463F568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83F18-FD4B-4DE7-9071-B908F453FB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4753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B51B18-E77A-4F43-AD72-2FEEF87BA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55BEF29-CD7A-4BA6-BBF2-832BD4E74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BD597-E86D-4BF6-BFC6-9416768F7F27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7AB4F0C-446C-49EC-98C3-B4DBDE1C4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5957D86-DAB7-4926-BF7E-D0052B7BE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83F18-FD4B-4DE7-9071-B908F453FB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4743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1205A95-60B9-42B9-BDD7-BE6D4B8AD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BD597-E86D-4BF6-BFC6-9416768F7F27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22BBB36-9BDF-411D-B964-506F64969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7FC8AE1-44F0-4C7D-8085-01454FDFE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83F18-FD4B-4DE7-9071-B908F453FB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9591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7133B5-346E-4A9B-945A-D65956204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CA1079-C6CB-4B87-B758-B7CF77F2D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8C91B53-B3A4-45EF-BF49-D6D041CBD6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722C9EA-0FBF-4FA2-9482-4499504DB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BD597-E86D-4BF6-BFC6-9416768F7F27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4DF5D7B-A14A-4AAB-A154-B7B71BE16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DA624A3-BCD9-4F89-912F-40390760B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83F18-FD4B-4DE7-9071-B908F453FB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846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11498C-BFCE-4637-A5EE-E50325C6B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8E43B73-8807-4C31-AE2D-ABB22EB970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D96F756-A746-4956-9B1D-9659132AE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929D1BA-1623-401C-A6A6-B354B8108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BD597-E86D-4BF6-BFC6-9416768F7F27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AF9AA9E-A581-4ED4-BB08-5880F3C7B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86D60CB-7198-4CD9-895F-E62809E32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83F18-FD4B-4DE7-9071-B908F453FB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3365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6EC8DE-38F6-4854-B573-FCE342FB4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4169676-8237-4428-9D08-113BF6502A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AF5A6A-A14E-48C5-B573-65C7400D5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BD597-E86D-4BF6-BFC6-9416768F7F27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F2493E6-D691-45D5-8488-7C12D8D7D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D82E739-9BE4-48EF-AC1D-362009D47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83F18-FD4B-4DE7-9071-B908F453FB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489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D5232B8-CD09-49FA-9854-EAA1341BA0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FD4FAE5-825F-4C12-BF0C-C1E8048099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A7C21D6-C7D5-4381-BB3B-C8FAA1DD1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BD597-E86D-4BF6-BFC6-9416768F7F27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03D3209-1073-4A3C-998E-F45E538E3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3019103-F948-4B54-8C73-AE82F7E72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83F18-FD4B-4DE7-9071-B908F453FB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1515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CDA94ED-3D10-487A-B558-A2ED74B4D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C6BE05D-73B1-4305-805F-679A5A8C4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268C109-FC44-4241-8559-8A8CECB01F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CBD597-E86D-4BF6-BFC6-9416768F7F27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D5EE280-E275-4D0C-A32C-376A9C2E6D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EDF6FDD-090E-4696-A137-20348EDF0E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D83F18-FD4B-4DE7-9071-B908F453FB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057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99F8B-7F62-4B1B-847B-5961E199F4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7255CA2-2357-4513-A9E6-890A860E01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0201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6965A0-E850-4D06-B753-B25A7D06E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Panel data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2E1B8863-9080-42F6-B0CD-DDF4437C9D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8393" y="1424468"/>
            <a:ext cx="6451312" cy="5253601"/>
          </a:xfrm>
        </p:spPr>
      </p:pic>
    </p:spTree>
    <p:extLst>
      <p:ext uri="{BB962C8B-B14F-4D97-AF65-F5344CB8AC3E}">
        <p14:creationId xmlns:p14="http://schemas.microsoft.com/office/powerpoint/2010/main" val="86397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718FF8-8BA5-48A0-A843-AB50E8F11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輸出結果</a:t>
            </a: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E0804E20-9BB5-4466-937F-D8BF34DFF5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9758513"/>
              </p:ext>
            </p:extLst>
          </p:nvPr>
        </p:nvGraphicFramePr>
        <p:xfrm>
          <a:off x="959096" y="1537699"/>
          <a:ext cx="3465420" cy="26390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39330">
                  <a:extLst>
                    <a:ext uri="{9D8B030D-6E8A-4147-A177-3AD203B41FA5}">
                      <a16:colId xmlns:a16="http://schemas.microsoft.com/office/drawing/2014/main" val="879763941"/>
                    </a:ext>
                  </a:extLst>
                </a:gridCol>
                <a:gridCol w="913045">
                  <a:extLst>
                    <a:ext uri="{9D8B030D-6E8A-4147-A177-3AD203B41FA5}">
                      <a16:colId xmlns:a16="http://schemas.microsoft.com/office/drawing/2014/main" val="978760562"/>
                    </a:ext>
                  </a:extLst>
                </a:gridCol>
                <a:gridCol w="913045">
                  <a:extLst>
                    <a:ext uri="{9D8B030D-6E8A-4147-A177-3AD203B41FA5}">
                      <a16:colId xmlns:a16="http://schemas.microsoft.com/office/drawing/2014/main" val="3745464907"/>
                    </a:ext>
                  </a:extLst>
                </a:gridCol>
              </a:tblGrid>
              <a:tr h="293227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4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altLang="en-US" sz="14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mean_Y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Var_Y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3538543"/>
                  </a:ext>
                </a:extLst>
              </a:tr>
              <a:tr h="293227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4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三多商圈圓環 </a:t>
                      </a:r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4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0.221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4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0.204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30885"/>
                  </a:ext>
                </a:extLst>
              </a:tr>
              <a:tr h="293227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4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大村圓環 </a:t>
                      </a:r>
                      <a:endParaRPr lang="zh-TW" altLang="en-US" sz="14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4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0.164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4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0.17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4839863"/>
                  </a:ext>
                </a:extLst>
              </a:tr>
              <a:tr h="293227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4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中興新村圓環</a:t>
                      </a:r>
                      <a:endParaRPr lang="zh-TW" altLang="en-US" sz="14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4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1.35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4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1.84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251873"/>
                  </a:ext>
                </a:extLst>
              </a:tr>
              <a:tr h="293227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4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芒果圓環</a:t>
                      </a:r>
                      <a:endParaRPr lang="zh-TW" altLang="en-US" sz="14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4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0.358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4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0.264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08196"/>
                  </a:ext>
                </a:extLst>
              </a:tr>
              <a:tr h="293227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4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岡山圓環</a:t>
                      </a:r>
                      <a:endParaRPr lang="zh-TW" altLang="en-US" sz="14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4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0.328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4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0.315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6270527"/>
                  </a:ext>
                </a:extLst>
              </a:tr>
              <a:tr h="293227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4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潮州燒冷冰</a:t>
                      </a:r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4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2.01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4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1.96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8859411"/>
                  </a:ext>
                </a:extLst>
              </a:tr>
              <a:tr h="293227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4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歸仁圓環</a:t>
                      </a:r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4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2.42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4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2.13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6822101"/>
                  </a:ext>
                </a:extLst>
              </a:tr>
              <a:tr h="2932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TOTAL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400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0.9809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400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1.7342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757544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6CA420-D1E9-42EE-A393-1C7E7A79B0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0009"/>
              </p:ext>
            </p:extLst>
          </p:nvPr>
        </p:nvGraphicFramePr>
        <p:xfrm>
          <a:off x="959096" y="4485817"/>
          <a:ext cx="6375400" cy="4394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1892101179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905832178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19620384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011831379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178310381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4079367716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387860477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METHOD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coefficient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IRR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std_Error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z_value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 err="1">
                          <a:effectLst/>
                        </a:rPr>
                        <a:t>p_value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McFadden_R2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986849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poisson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400" u="none" strike="noStrike">
                          <a:effectLst/>
                        </a:rPr>
                        <a:t>-0.4147647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400" u="none" strike="noStrike">
                          <a:effectLst/>
                        </a:rPr>
                        <a:t>0.6604957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400" u="none" strike="noStrike">
                          <a:effectLst/>
                        </a:rPr>
                        <a:t>0.1826953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400" u="none" strike="noStrike">
                          <a:effectLst/>
                        </a:rPr>
                        <a:t>-2.270266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400" u="none" strike="noStrike">
                          <a:effectLst/>
                        </a:rPr>
                        <a:t>0.02319145</a:t>
                      </a:r>
                      <a:endParaRPr lang="en-US" altLang="zh-TW" sz="14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400" u="none" strike="noStrike" dirty="0">
                          <a:effectLst/>
                        </a:rPr>
                        <a:t>0.003427564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759717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58889FF-40B0-4E81-A402-474F79C3F6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0803781"/>
              </p:ext>
            </p:extLst>
          </p:nvPr>
        </p:nvGraphicFramePr>
        <p:xfrm>
          <a:off x="959096" y="5179072"/>
          <a:ext cx="6375400" cy="4394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1535990804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3707084625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110583145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167121125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3974642945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3740695386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132201134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METHOD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coefficient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IRR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std_Error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z_value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p_value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McFadden_R2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26619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 err="1">
                          <a:effectLst/>
                        </a:rPr>
                        <a:t>poisson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400" u="none" strike="noStrike" dirty="0">
                          <a:effectLst/>
                        </a:rPr>
                        <a:t>-0.5163606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400" u="none" strike="noStrike" dirty="0">
                          <a:effectLst/>
                        </a:rPr>
                        <a:t>0.5966882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400" u="none" strike="noStrike" dirty="0">
                          <a:effectLst/>
                        </a:rPr>
                        <a:t>0.1556976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400" u="none" strike="noStrike" dirty="0">
                          <a:effectLst/>
                        </a:rPr>
                        <a:t>-3.316433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400" u="none" strike="noStrike" dirty="0">
                          <a:effectLst/>
                        </a:rPr>
                        <a:t>0.00091174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400" u="none" strike="noStrike" dirty="0">
                          <a:effectLst/>
                        </a:rPr>
                        <a:t>0.005994327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4998457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26462231-79C8-45AB-AD25-F8F5D44CA8E8}"/>
              </a:ext>
            </a:extLst>
          </p:cNvPr>
          <p:cNvSpPr txBox="1"/>
          <p:nvPr/>
        </p:nvSpPr>
        <p:spPr>
          <a:xfrm>
            <a:off x="5120640" y="1456387"/>
            <a:ext cx="674296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整體來看使用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poisson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較能解釋數據，不過從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值可看出解釋能力仍然非常有限，不過整體係數顯著下降且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p-value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顯著。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推測只有一個變數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is_treated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是不夠的，可能要加入其他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factors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3E1FD07-D516-4C0E-ADB9-42B22C279A7F}"/>
              </a:ext>
            </a:extLst>
          </p:cNvPr>
          <p:cNvSpPr txBox="1"/>
          <p:nvPr/>
        </p:nvSpPr>
        <p:spPr>
          <a:xfrm>
            <a:off x="7486281" y="4485817"/>
            <a:ext cx="2217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同時使用七個路口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6825790-C813-4C0B-9559-456289429647}"/>
              </a:ext>
            </a:extLst>
          </p:cNvPr>
          <p:cNvSpPr txBox="1"/>
          <p:nvPr/>
        </p:nvSpPr>
        <p:spPr>
          <a:xfrm>
            <a:off x="7486281" y="5231463"/>
            <a:ext cx="3239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只使用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mean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最高的三個路口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A4C8B24-3309-4729-9E3F-27B6FB66F998}"/>
              </a:ext>
            </a:extLst>
          </p:cNvPr>
          <p:cNvSpPr txBox="1"/>
          <p:nvPr/>
        </p:nvSpPr>
        <p:spPr>
          <a:xfrm>
            <a:off x="7486281" y="5932503"/>
            <a:ext cx="3239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僅觀察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Y_MC_involved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2A670C34-E07A-455E-A5BC-8F69696C77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6458634"/>
              </p:ext>
            </p:extLst>
          </p:nvPr>
        </p:nvGraphicFramePr>
        <p:xfrm>
          <a:off x="959096" y="5932503"/>
          <a:ext cx="6375400" cy="4394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1892101179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905832178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19620384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011831379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178310381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4079367716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387860477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METHOD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coefficient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IRR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std_Error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z_value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p_value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McFadden_R2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986849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poisson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400" u="none" strike="noStrike" dirty="0">
                          <a:effectLst/>
                        </a:rPr>
                        <a:t>-0.5798615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400" u="none" strike="noStrike" dirty="0">
                          <a:effectLst/>
                        </a:rPr>
                        <a:t>0.5599759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400" u="none" strike="noStrike" dirty="0">
                          <a:effectLst/>
                        </a:rPr>
                        <a:t>0.2990171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400" u="none" strike="noStrike" dirty="0">
                          <a:effectLst/>
                        </a:rPr>
                        <a:t>-1.939225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400" u="none" strike="noStrike" dirty="0">
                          <a:effectLst/>
                        </a:rPr>
                        <a:t>0.05247391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400" u="none" strike="noStrike" dirty="0">
                          <a:effectLst/>
                        </a:rPr>
                        <a:t>0.005844484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7597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3882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0D0308-EB7E-4C6E-A3CF-DD9F94E4B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對照組搜尋進度</a:t>
            </a:r>
          </a:p>
        </p:txBody>
      </p:sp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id="{5B13B0CF-E2A1-47B6-B511-2E602AC363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4043679"/>
              </p:ext>
            </p:extLst>
          </p:nvPr>
        </p:nvGraphicFramePr>
        <p:xfrm>
          <a:off x="1018212" y="1690688"/>
          <a:ext cx="2910758" cy="2162763"/>
        </p:xfrm>
        <a:graphic>
          <a:graphicData uri="http://schemas.openxmlformats.org/drawingml/2006/table">
            <a:tbl>
              <a:tblPr/>
              <a:tblGrid>
                <a:gridCol w="1059742">
                  <a:extLst>
                    <a:ext uri="{9D8B030D-6E8A-4147-A177-3AD203B41FA5}">
                      <a16:colId xmlns:a16="http://schemas.microsoft.com/office/drawing/2014/main" val="1118851940"/>
                    </a:ext>
                  </a:extLst>
                </a:gridCol>
                <a:gridCol w="1229301">
                  <a:extLst>
                    <a:ext uri="{9D8B030D-6E8A-4147-A177-3AD203B41FA5}">
                      <a16:colId xmlns:a16="http://schemas.microsoft.com/office/drawing/2014/main" val="3116812442"/>
                    </a:ext>
                  </a:extLst>
                </a:gridCol>
                <a:gridCol w="621715">
                  <a:extLst>
                    <a:ext uri="{9D8B030D-6E8A-4147-A177-3AD203B41FA5}">
                      <a16:colId xmlns:a16="http://schemas.microsoft.com/office/drawing/2014/main" val="399152693"/>
                    </a:ext>
                  </a:extLst>
                </a:gridCol>
              </a:tblGrid>
              <a:tr h="240307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實驗組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對照組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pair_id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5462729"/>
                  </a:ext>
                </a:extLst>
              </a:tr>
              <a:tr h="240307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潮州燒冷冰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內埔圓環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684733"/>
                  </a:ext>
                </a:extLst>
              </a:tr>
              <a:tr h="240307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潮州燒冷冰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光春圓環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796510"/>
                  </a:ext>
                </a:extLst>
              </a:tr>
              <a:tr h="240307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歸仁圓環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內埔圓環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8278593"/>
                  </a:ext>
                </a:extLst>
              </a:tr>
              <a:tr h="240307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中興新村圓環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埔里圓環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921172"/>
                  </a:ext>
                </a:extLst>
              </a:tr>
              <a:tr h="240307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三多商圈圓環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高雄控制組一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672218"/>
                  </a:ext>
                </a:extLst>
              </a:tr>
              <a:tr h="240307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芒果圓環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4398793"/>
                  </a:ext>
                </a:extLst>
              </a:tr>
              <a:tr h="240307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岡山圓環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高雄控制組一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874557"/>
                  </a:ext>
                </a:extLst>
              </a:tr>
              <a:tr h="240307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大村圓環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南投市中心圓環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0"/>
                          <a:ea typeface="Arial Unicode MS" panose="020B0604020202020204" pitchFamily="34" charset="-120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6829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6527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E649D0C4-918E-461E-AC88-DA9878DB5B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367" y="185319"/>
            <a:ext cx="9592351" cy="675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500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1E3A3B6D-8C63-4162-87B0-85B8053469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190" y="427478"/>
            <a:ext cx="8767593" cy="6176300"/>
          </a:xfrm>
        </p:spPr>
      </p:pic>
    </p:spTree>
    <p:extLst>
      <p:ext uri="{BB962C8B-B14F-4D97-AF65-F5344CB8AC3E}">
        <p14:creationId xmlns:p14="http://schemas.microsoft.com/office/powerpoint/2010/main" val="415004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3340A50-0296-42D9-8838-5525BAB625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657" y="260806"/>
            <a:ext cx="9365076" cy="6597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330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1701C1D8-A881-4225-8A46-129BCA0060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555" y="73231"/>
            <a:ext cx="9462565" cy="6665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024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A15623CA-43EE-4A31-B7EF-46F0077679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185" y="212377"/>
            <a:ext cx="9335630" cy="6576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722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249</Words>
  <Application>Microsoft Office PowerPoint</Application>
  <PresentationFormat>寬螢幕</PresentationFormat>
  <Paragraphs>105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6" baseType="lpstr">
      <vt:lpstr>Arial Unicode MS</vt:lpstr>
      <vt:lpstr>Microsoft JhengHei UI</vt:lpstr>
      <vt:lpstr>微軟正黑體</vt:lpstr>
      <vt:lpstr>Arial</vt:lpstr>
      <vt:lpstr>Calibri</vt:lpstr>
      <vt:lpstr>Calibri Light</vt:lpstr>
      <vt:lpstr>Office 佈景主題</vt:lpstr>
      <vt:lpstr>PowerPoint 簡報</vt:lpstr>
      <vt:lpstr>Panel data</vt:lpstr>
      <vt:lpstr>輸出結果</vt:lpstr>
      <vt:lpstr>對照組搜尋進度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suder ch</dc:creator>
  <cp:lastModifiedBy>suder ch</cp:lastModifiedBy>
  <cp:revision>12</cp:revision>
  <dcterms:created xsi:type="dcterms:W3CDTF">2026-04-12T10:40:53Z</dcterms:created>
  <dcterms:modified xsi:type="dcterms:W3CDTF">2026-04-13T15:15:54Z</dcterms:modified>
</cp:coreProperties>
</file>